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2"/>
  </p:notesMasterIdLst>
  <p:handoutMasterIdLst>
    <p:handoutMasterId r:id="rId13"/>
  </p:handoutMasterIdLst>
  <p:sldIdLst>
    <p:sldId id="312" r:id="rId5"/>
    <p:sldId id="304" r:id="rId6"/>
    <p:sldId id="281" r:id="rId7"/>
    <p:sldId id="282" r:id="rId8"/>
    <p:sldId id="315" r:id="rId9"/>
    <p:sldId id="317" r:id="rId10"/>
    <p:sldId id="318" r:id="rId1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snapToObjects="1">
      <p:cViewPr varScale="1">
        <p:scale>
          <a:sx n="59" d="100"/>
          <a:sy n="59" d="100"/>
        </p:scale>
        <p:origin x="924"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SAME GAME</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630849"/>
          </a:xfrm>
        </p:spPr>
        <p:txBody>
          <a:bodyPr/>
          <a:lstStyle/>
          <a:p>
            <a:r>
              <a:rPr lang="en-US" dirty="0"/>
              <a:t>What </a:t>
            </a:r>
            <a:r>
              <a:rPr lang="en-US"/>
              <a:t>is same game ?</a:t>
            </a: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802423"/>
            <a:ext cx="6583680" cy="4239561"/>
          </a:xfrm>
        </p:spPr>
        <p:txBody>
          <a:bodyPr>
            <a:normAutofit fontScale="85000" lnSpcReduction="10000"/>
          </a:bodyPr>
          <a:lstStyle/>
          <a:p>
            <a:r>
              <a:rPr lang="en-US" b="1" dirty="0"/>
              <a:t>Same Game</a:t>
            </a:r>
            <a:r>
              <a:rPr lang="en-US" dirty="0"/>
              <a:t> is a puzzle game where:</a:t>
            </a:r>
          </a:p>
          <a:p>
            <a:r>
              <a:rPr lang="en-US" dirty="0"/>
              <a:t>The board has colored blocks.</a:t>
            </a:r>
          </a:p>
          <a:p>
            <a:r>
              <a:rPr lang="en-US" dirty="0"/>
              <a:t>You can remove </a:t>
            </a:r>
            <a:r>
              <a:rPr lang="en-US" b="1" dirty="0"/>
              <a:t>connected regions</a:t>
            </a:r>
            <a:r>
              <a:rPr lang="en-US" dirty="0"/>
              <a:t> of the same color (minimum size = 2).</a:t>
            </a:r>
          </a:p>
          <a:p>
            <a:r>
              <a:rPr lang="en-US" dirty="0"/>
              <a:t>Score depends on the </a:t>
            </a:r>
            <a:r>
              <a:rPr lang="en-US" b="1" dirty="0"/>
              <a:t>size of the region removed</a:t>
            </a:r>
            <a:r>
              <a:rPr lang="en-US" dirty="0"/>
              <a:t>.</a:t>
            </a:r>
          </a:p>
          <a:p>
            <a:r>
              <a:rPr lang="en-US" dirty="0"/>
              <a:t>After removal:</a:t>
            </a:r>
          </a:p>
          <a:p>
            <a:pPr lvl="1"/>
            <a:r>
              <a:rPr lang="en-US" dirty="0"/>
              <a:t>Blocks fall down (gravity)</a:t>
            </a:r>
          </a:p>
          <a:p>
            <a:pPr lvl="1"/>
            <a:r>
              <a:rPr lang="en-US" dirty="0"/>
              <a:t>Empty columns shift left</a:t>
            </a:r>
          </a:p>
          <a:p>
            <a:r>
              <a:rPr lang="en-US" dirty="0"/>
              <a:t>Game ends when </a:t>
            </a:r>
            <a:r>
              <a:rPr lang="en-US" b="1" dirty="0"/>
              <a:t>no more valid moves</a:t>
            </a:r>
            <a:r>
              <a:rPr lang="en-US" dirty="0"/>
              <a:t> exist.</a:t>
            </a:r>
          </a:p>
          <a:p>
            <a:r>
              <a:rPr lang="en-US" dirty="0"/>
              <a:t>👉 Goal: </a:t>
            </a:r>
            <a:r>
              <a:rPr lang="en-US" b="1" dirty="0"/>
              <a:t>Maximize total score</a:t>
            </a:r>
            <a:r>
              <a:rPr lang="en-US" dirty="0"/>
              <a:t>.</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pic>
        <p:nvPicPr>
          <p:cNvPr id="6" name="Picture 5">
            <a:extLst>
              <a:ext uri="{FF2B5EF4-FFF2-40B4-BE49-F238E27FC236}">
                <a16:creationId xmlns:a16="http://schemas.microsoft.com/office/drawing/2014/main" id="{7A426BAC-3EB8-81FD-9D7B-8FA5E580277B}"/>
              </a:ext>
            </a:extLst>
          </p:cNvPr>
          <p:cNvPicPr>
            <a:picLocks noChangeAspect="1"/>
          </p:cNvPicPr>
          <p:nvPr/>
        </p:nvPicPr>
        <p:blipFill>
          <a:blip r:embed="rId3"/>
          <a:stretch>
            <a:fillRect/>
          </a:stretch>
        </p:blipFill>
        <p:spPr>
          <a:xfrm>
            <a:off x="6838462" y="816016"/>
            <a:ext cx="5353538" cy="5365262"/>
          </a:xfrm>
          <a:prstGeom prst="rect">
            <a:avLst/>
          </a:prstGeom>
        </p:spPr>
      </p:pic>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518748"/>
            <a:ext cx="5259554" cy="703384"/>
          </a:xfrm>
        </p:spPr>
        <p:txBody>
          <a:bodyPr/>
          <a:lstStyle/>
          <a:p>
            <a:r>
              <a:rPr lang="en-US" dirty="0"/>
              <a:t>The </a:t>
            </a:r>
            <a:r>
              <a:rPr lang="en-US" dirty="0" err="1"/>
              <a:t>cpu</a:t>
            </a:r>
            <a:r>
              <a:rPr lang="en-US" dirty="0"/>
              <a:t>:</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1494692"/>
            <a:ext cx="5259554" cy="4547291"/>
          </a:xfrm>
        </p:spPr>
        <p:txBody>
          <a:bodyPr/>
          <a:lstStyle/>
          <a:p>
            <a:endParaRPr lang="en-US" dirty="0"/>
          </a:p>
          <a:p>
            <a:pPr marL="342900" indent="-342900">
              <a:buFont typeface="Arial" panose="020B0604020202020204" pitchFamily="34" charset="0"/>
              <a:buChar char="•"/>
            </a:pPr>
            <a:r>
              <a:rPr lang="en-US" dirty="0"/>
              <a:t>Finds connected regions (Graph + DFS)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Evaluates possible moves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Chooses best move using </a:t>
            </a:r>
            <a:r>
              <a:rPr lang="en-US" b="1" dirty="0"/>
              <a:t>Greedy + Divide &amp; Conquer</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Repeats until no moves left</a:t>
            </a:r>
          </a:p>
          <a:p>
            <a:endParaRPr lang="en-US" dirty="0"/>
          </a:p>
        </p:txBody>
      </p:sp>
    </p:spTree>
    <p:extLst>
      <p:ext uri="{BB962C8B-B14F-4D97-AF65-F5344CB8AC3E}">
        <p14:creationId xmlns:p14="http://schemas.microsoft.com/office/powerpoint/2010/main" val="29529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6FDB37-DA32-089F-7FB8-45DB62FA4E89}"/>
              </a:ext>
            </a:extLst>
          </p:cNvPr>
          <p:cNvSpPr>
            <a:spLocks noGrp="1"/>
          </p:cNvSpPr>
          <p:nvPr>
            <p:ph type="title"/>
          </p:nvPr>
        </p:nvSpPr>
        <p:spPr>
          <a:xfrm>
            <a:off x="914400" y="1057275"/>
            <a:ext cx="6583680" cy="701188"/>
          </a:xfrm>
        </p:spPr>
        <p:txBody>
          <a:bodyPr/>
          <a:lstStyle/>
          <a:p>
            <a:r>
              <a:rPr lang="en-IN" dirty="0"/>
              <a:t>Graph And merge sort</a:t>
            </a:r>
          </a:p>
        </p:txBody>
      </p:sp>
      <p:sp>
        <p:nvSpPr>
          <p:cNvPr id="6" name="Rectangle 3">
            <a:extLst>
              <a:ext uri="{FF2B5EF4-FFF2-40B4-BE49-F238E27FC236}">
                <a16:creationId xmlns:a16="http://schemas.microsoft.com/office/drawing/2014/main" id="{9F00390C-F4B1-AC39-A2AE-94B4A837E631}"/>
              </a:ext>
            </a:extLst>
          </p:cNvPr>
          <p:cNvSpPr>
            <a:spLocks noGrp="1" noChangeArrowheads="1"/>
          </p:cNvSpPr>
          <p:nvPr>
            <p:ph idx="1"/>
          </p:nvPr>
        </p:nvSpPr>
        <p:spPr bwMode="auto">
          <a:xfrm>
            <a:off x="456223" y="2184070"/>
            <a:ext cx="720793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accent6">
                    <a:lumMod val="75000"/>
                  </a:schemeClr>
                </a:solidFill>
                <a:effectLst/>
                <a:latin typeface="Arial" panose="020B0604020202020204" pitchFamily="34" charset="0"/>
              </a:rPr>
              <a:t>Find </a:t>
            </a:r>
            <a:r>
              <a:rPr kumimoji="0" lang="en-US" altLang="en-US" sz="2800" b="1" i="0" u="none" strike="noStrike" cap="none" normalizeH="0" baseline="0" dirty="0">
                <a:ln>
                  <a:noFill/>
                </a:ln>
                <a:solidFill>
                  <a:schemeClr val="accent6">
                    <a:lumMod val="75000"/>
                  </a:schemeClr>
                </a:solidFill>
                <a:effectLst/>
                <a:latin typeface="Arial" panose="020B0604020202020204" pitchFamily="34" charset="0"/>
              </a:rPr>
              <a:t>all connected regions</a:t>
            </a:r>
            <a:endParaRPr kumimoji="0" lang="en-US" altLang="en-US" sz="2800" b="0" i="0" u="none" strike="noStrike" cap="none" normalizeH="0" baseline="0" dirty="0">
              <a:ln>
                <a:noFill/>
              </a:ln>
              <a:solidFill>
                <a:schemeClr val="accent6">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accent6">
                    <a:lumMod val="75000"/>
                  </a:schemeClr>
                </a:solidFill>
                <a:effectLst/>
                <a:latin typeface="Arial" panose="020B0604020202020204" pitchFamily="34" charset="0"/>
              </a:rPr>
              <a:t>   Know the </a:t>
            </a:r>
            <a:r>
              <a:rPr kumimoji="0" lang="en-US" altLang="en-US" sz="2800" b="1" i="0" u="none" strike="noStrike" cap="none" normalizeH="0" baseline="0" dirty="0">
                <a:ln>
                  <a:noFill/>
                </a:ln>
                <a:solidFill>
                  <a:schemeClr val="accent6">
                    <a:lumMod val="75000"/>
                  </a:schemeClr>
                </a:solidFill>
                <a:effectLst/>
                <a:latin typeface="Arial" panose="020B0604020202020204" pitchFamily="34" charset="0"/>
              </a:rPr>
              <a:t>size of each region</a:t>
            </a:r>
            <a:endParaRPr kumimoji="0" lang="en-US" altLang="en-US" sz="2800" b="0" i="0" u="none" strike="noStrike" cap="none" normalizeH="0" baseline="0" dirty="0">
              <a:ln>
                <a:noFill/>
              </a:ln>
              <a:solidFill>
                <a:schemeClr val="accent6">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accent6">
                    <a:lumMod val="75000"/>
                  </a:schemeClr>
                </a:solidFill>
                <a:effectLst/>
                <a:latin typeface="Arial" panose="020B0604020202020204" pitchFamily="34" charset="0"/>
              </a:rPr>
              <a:t>   Using DFS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accent6">
                    <a:lumMod val="75000"/>
                  </a:schemeClr>
                </a:solidFill>
                <a:effectLst/>
                <a:latin typeface="Arial" panose="020B0604020202020204" pitchFamily="34" charset="0"/>
              </a:rPr>
              <a:t>   We use DFS be</a:t>
            </a:r>
            <a:r>
              <a:rPr lang="en-US" altLang="en-US" sz="2800" dirty="0">
                <a:solidFill>
                  <a:schemeClr val="accent6">
                    <a:lumMod val="75000"/>
                  </a:schemeClr>
                </a:solidFill>
                <a:latin typeface="Arial" panose="020B0604020202020204" pitchFamily="34" charset="0"/>
              </a:rPr>
              <a:t>cause the requirement for this problem is just to find the connected regions and their sizes</a:t>
            </a:r>
          </a:p>
          <a:p>
            <a:pPr lvl="0" eaLnBrk="0" fontAlgn="base" hangingPunct="0">
              <a:lnSpc>
                <a:spcPct val="100000"/>
              </a:lnSpc>
              <a:spcBef>
                <a:spcPct val="0"/>
              </a:spcBef>
              <a:spcAft>
                <a:spcPct val="0"/>
              </a:spcAft>
              <a:buFontTx/>
              <a:buChar char="•"/>
            </a:pPr>
            <a:r>
              <a:rPr kumimoji="0" lang="en-US" altLang="en-US" sz="2800" b="0" i="0" u="none" strike="noStrike" cap="none" normalizeH="0" baseline="0" dirty="0">
                <a:ln>
                  <a:noFill/>
                </a:ln>
                <a:solidFill>
                  <a:schemeClr val="accent6">
                    <a:lumMod val="75000"/>
                  </a:schemeClr>
                </a:solidFill>
                <a:effectLst/>
                <a:latin typeface="Arial" panose="020B0604020202020204" pitchFamily="34" charset="0"/>
              </a:rPr>
              <a:t>  Then we use </a:t>
            </a:r>
            <a:r>
              <a:rPr lang="en-US" altLang="en-US" sz="2800" dirty="0">
                <a:solidFill>
                  <a:schemeClr val="accent6">
                    <a:lumMod val="75000"/>
                  </a:schemeClr>
                </a:solidFill>
                <a:latin typeface="Arial" panose="020B0604020202020204" pitchFamily="34" charset="0"/>
              </a:rPr>
              <a:t>merge sort to arrange descending order of size</a:t>
            </a:r>
            <a:endParaRPr kumimoji="0" lang="en-US" altLang="en-US" sz="2800" b="0" i="0" u="none" strike="noStrike" cap="none" normalizeH="0" baseline="0" dirty="0">
              <a:ln>
                <a:noFill/>
              </a:ln>
              <a:solidFill>
                <a:schemeClr val="accent6">
                  <a:lumMod val="75000"/>
                </a:schemeClr>
              </a:solidFill>
              <a:effectLst/>
              <a:latin typeface="Arial" panose="020B0604020202020204" pitchFamily="34" charset="0"/>
            </a:endParaRP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6"/>
            <a:ext cx="7796464" cy="471490"/>
          </a:xfrm>
        </p:spPr>
        <p:txBody>
          <a:bodyPr/>
          <a:lstStyle/>
          <a:p>
            <a:r>
              <a:rPr lang="en-IN" dirty="0"/>
              <a:t>Greedy Algorithm</a:t>
            </a: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a:t>
            </a:fld>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1077667" y="1567961"/>
            <a:ext cx="4330579" cy="4361619"/>
          </a:xfrm>
        </p:spPr>
        <p:txBody>
          <a:bodyPr>
            <a:normAutofit/>
          </a:bodyPr>
          <a:lstStyle/>
          <a:p>
            <a:r>
              <a:rPr lang="en-US" b="1" dirty="0"/>
              <a:t>How Greedy Works in Your Game:</a:t>
            </a:r>
          </a:p>
          <a:p>
            <a:r>
              <a:rPr lang="en-US" dirty="0"/>
              <a:t>At every move:</a:t>
            </a:r>
          </a:p>
          <a:p>
            <a:pPr marL="285750" indent="-285750">
              <a:buFont typeface="Arial" panose="020B0604020202020204" pitchFamily="34" charset="0"/>
              <a:buChar char="•"/>
            </a:pPr>
            <a:r>
              <a:rPr lang="en-US" dirty="0"/>
              <a:t>CPU prefers </a:t>
            </a:r>
            <a:r>
              <a:rPr lang="en-US" b="1" dirty="0"/>
              <a:t>bigger connected regions</a:t>
            </a:r>
            <a:endParaRPr lang="en-US" dirty="0"/>
          </a:p>
          <a:p>
            <a:pPr marL="285750" indent="-285750">
              <a:buFont typeface="Arial" panose="020B0604020202020204" pitchFamily="34" charset="0"/>
              <a:buChar char="•"/>
            </a:pPr>
            <a:r>
              <a:rPr lang="en-US" dirty="0"/>
              <a:t>Because bigger regions → higher score</a:t>
            </a:r>
          </a:p>
          <a:p>
            <a:pPr marL="285750" indent="-285750">
              <a:buFont typeface="Arial" panose="020B0604020202020204" pitchFamily="34" charset="0"/>
              <a:buChar char="•"/>
            </a:pPr>
            <a:r>
              <a:rPr lang="en-US" dirty="0"/>
              <a:t>This is a </a:t>
            </a:r>
            <a:r>
              <a:rPr lang="en-US" b="1" dirty="0"/>
              <a:t>Greedy choice</a:t>
            </a:r>
            <a:r>
              <a:rPr lang="en-US" dirty="0"/>
              <a:t> (best immediate reward)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the new algorithm it gets the scores that each region present will give and arranges it in the increasing order where the largest points region is given more prefers to be removed</a:t>
            </a:r>
          </a:p>
          <a:p>
            <a:endParaRPr lang="en-US" dirty="0"/>
          </a:p>
        </p:txBody>
      </p:sp>
      <p:pic>
        <p:nvPicPr>
          <p:cNvPr id="5" name="Picture 4">
            <a:extLst>
              <a:ext uri="{FF2B5EF4-FFF2-40B4-BE49-F238E27FC236}">
                <a16:creationId xmlns:a16="http://schemas.microsoft.com/office/drawing/2014/main" id="{96E18B2A-210E-910F-EE95-0C052B4547EE}"/>
              </a:ext>
            </a:extLst>
          </p:cNvPr>
          <p:cNvPicPr>
            <a:picLocks noChangeAspect="1"/>
          </p:cNvPicPr>
          <p:nvPr/>
        </p:nvPicPr>
        <p:blipFill>
          <a:blip r:embed="rId3"/>
          <a:stretch>
            <a:fillRect/>
          </a:stretch>
        </p:blipFill>
        <p:spPr>
          <a:xfrm>
            <a:off x="6629078" y="1410016"/>
            <a:ext cx="3952953" cy="4677508"/>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3804" y="622493"/>
            <a:ext cx="7631709" cy="933745"/>
          </a:xfrm>
        </p:spPr>
        <p:txBody>
          <a:bodyPr/>
          <a:lstStyle/>
          <a:p>
            <a:r>
              <a:rPr lang="en-US" dirty="0"/>
              <a:t>DIVIDE AND CONQUER</a:t>
            </a: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5184" y="1963615"/>
            <a:ext cx="3763963" cy="4600453"/>
          </a:xfrm>
        </p:spPr>
        <p:txBody>
          <a:bodyPr/>
          <a:lstStyle/>
          <a:p>
            <a:r>
              <a:rPr lang="en-US" b="1" dirty="0"/>
              <a:t>IN GAME:</a:t>
            </a:r>
          </a:p>
          <a:p>
            <a:endParaRPr lang="en-US" b="1" dirty="0"/>
          </a:p>
          <a:p>
            <a:pPr marL="285750" indent="-285750">
              <a:buFont typeface="Arial" panose="020B0604020202020204" pitchFamily="34" charset="0"/>
              <a:buChar char="•"/>
            </a:pPr>
            <a:r>
              <a:rPr lang="en-US" b="1" dirty="0"/>
              <a:t>Divide</a:t>
            </a:r>
            <a:r>
              <a:rPr lang="en-US" dirty="0"/>
              <a:t> → Try one region as a move</a:t>
            </a:r>
          </a:p>
          <a:p>
            <a:pPr marL="285750" indent="-285750">
              <a:buFont typeface="Arial" panose="020B0604020202020204" pitchFamily="34" charset="0"/>
              <a:buChar char="•"/>
            </a:pPr>
            <a:r>
              <a:rPr lang="en-US" b="1" dirty="0"/>
              <a:t>Conquer</a:t>
            </a:r>
            <a:r>
              <a:rPr lang="en-US" dirty="0"/>
              <a:t> → Solve the remaining game recursively for depth of 2</a:t>
            </a:r>
          </a:p>
          <a:p>
            <a:pPr marL="285750" indent="-285750">
              <a:buFont typeface="Arial" panose="020B0604020202020204" pitchFamily="34" charset="0"/>
              <a:buChar char="•"/>
            </a:pPr>
            <a:r>
              <a:rPr lang="en-US" b="1" dirty="0"/>
              <a:t>Combine</a:t>
            </a:r>
            <a:r>
              <a:rPr lang="en-US" dirty="0"/>
              <a:t> → Add current score + future score</a:t>
            </a:r>
          </a:p>
          <a:p>
            <a:pPr marL="285750" indent="-285750">
              <a:buFont typeface="Arial" panose="020B0604020202020204" pitchFamily="34" charset="0"/>
              <a:buChar char="•"/>
            </a:pPr>
            <a:r>
              <a:rPr lang="en-US" dirty="0"/>
              <a:t> After divide and conquer the region which give the best score after combining will be removed </a:t>
            </a:r>
          </a:p>
          <a:p>
            <a:endParaRPr lang="en-US" b="1" dirty="0"/>
          </a:p>
          <a:p>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pic>
        <p:nvPicPr>
          <p:cNvPr id="12" name="Picture Placeholder 11" descr="Gears">
            <a:extLst>
              <a:ext uri="{FF2B5EF4-FFF2-40B4-BE49-F238E27FC236}">
                <a16:creationId xmlns:a16="http://schemas.microsoft.com/office/drawing/2014/main" id="{C4F9254D-77AB-0277-342B-039EBC8F43A3}"/>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22831" r="22831"/>
          <a:stretch>
            <a:fillRect/>
          </a:stretch>
        </p:blipFill>
        <p:spPr/>
      </p:pic>
      <p:pic>
        <p:nvPicPr>
          <p:cNvPr id="16" name="Picture 15">
            <a:extLst>
              <a:ext uri="{FF2B5EF4-FFF2-40B4-BE49-F238E27FC236}">
                <a16:creationId xmlns:a16="http://schemas.microsoft.com/office/drawing/2014/main" id="{56CE46C2-9DB2-8E24-FD8F-9776D297C7BA}"/>
              </a:ext>
            </a:extLst>
          </p:cNvPr>
          <p:cNvPicPr>
            <a:picLocks noChangeAspect="1"/>
          </p:cNvPicPr>
          <p:nvPr/>
        </p:nvPicPr>
        <p:blipFill>
          <a:blip r:embed="rId5"/>
          <a:stretch>
            <a:fillRect/>
          </a:stretch>
        </p:blipFill>
        <p:spPr>
          <a:xfrm>
            <a:off x="8428036" y="457199"/>
            <a:ext cx="3763963" cy="2563413"/>
          </a:xfrm>
          <a:prstGeom prst="rect">
            <a:avLst/>
          </a:prstGeom>
        </p:spPr>
      </p:pic>
      <p:sp>
        <p:nvSpPr>
          <p:cNvPr id="2" name="TextBox 1">
            <a:extLst>
              <a:ext uri="{FF2B5EF4-FFF2-40B4-BE49-F238E27FC236}">
                <a16:creationId xmlns:a16="http://schemas.microsoft.com/office/drawing/2014/main" id="{FD4C8205-04A2-B10E-00F4-16AA8DAA84BA}"/>
              </a:ext>
            </a:extLst>
          </p:cNvPr>
          <p:cNvSpPr txBox="1"/>
          <p:nvPr/>
        </p:nvSpPr>
        <p:spPr>
          <a:xfrm>
            <a:off x="4629976" y="1817914"/>
            <a:ext cx="3763963" cy="3970318"/>
          </a:xfrm>
          <a:prstGeom prst="rect">
            <a:avLst/>
          </a:prstGeom>
          <a:noFill/>
        </p:spPr>
        <p:txBody>
          <a:bodyPr wrap="square" rtlCol="0">
            <a:spAutoFit/>
          </a:bodyPr>
          <a:lstStyle/>
          <a:p>
            <a:r>
              <a:rPr lang="en-GB" dirty="0"/>
              <a:t>For each region R in sorted order:</a:t>
            </a:r>
          </a:p>
          <a:p>
            <a:r>
              <a:rPr lang="en-GB" dirty="0"/>
              <a:t>4.1 Compute immediate score of R.</a:t>
            </a:r>
          </a:p>
          <a:p>
            <a:r>
              <a:rPr lang="en-GB" dirty="0"/>
              <a:t>4.2 Simulate the move by removing R and applying gravity and column shift.</a:t>
            </a:r>
          </a:p>
          <a:p>
            <a:r>
              <a:rPr lang="en-GB" dirty="0"/>
              <a:t>4.3 Recursively evaluate future score on the new board using Divide &amp; Conquer with depth d-1.</a:t>
            </a:r>
          </a:p>
          <a:p>
            <a:r>
              <a:rPr lang="en-GB" dirty="0"/>
              <a:t>4.4 Compute total score = immediate score + future score.</a:t>
            </a:r>
          </a:p>
          <a:p>
            <a:endParaRPr lang="en-GB" dirty="0"/>
          </a:p>
          <a:p>
            <a:endParaRPr lang="en-GB" dirty="0"/>
          </a:p>
          <a:p>
            <a:endParaRPr lang="en-GB" dirty="0"/>
          </a:p>
          <a:p>
            <a:r>
              <a:rPr lang="en-IN" dirty="0"/>
              <a:t>T(D)=R⋅T(D−1)+O(RN)</a:t>
            </a:r>
          </a:p>
        </p:txBody>
      </p:sp>
    </p:spTree>
    <p:extLst>
      <p:ext uri="{BB962C8B-B14F-4D97-AF65-F5344CB8AC3E}">
        <p14:creationId xmlns:p14="http://schemas.microsoft.com/office/powerpoint/2010/main" val="1941619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677008"/>
            <a:ext cx="7843837" cy="720969"/>
          </a:xfrm>
        </p:spPr>
        <p:txBody>
          <a:bodyPr/>
          <a:lstStyle/>
          <a:p>
            <a:r>
              <a:rPr lang="en-US" dirty="0" err="1"/>
              <a:t>suMMARY</a:t>
            </a:r>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5" name="Rectangle 1">
            <a:extLst>
              <a:ext uri="{FF2B5EF4-FFF2-40B4-BE49-F238E27FC236}">
                <a16:creationId xmlns:a16="http://schemas.microsoft.com/office/drawing/2014/main" id="{DC3CF636-7D7E-5698-8E0A-7F69796AA125}"/>
              </a:ext>
            </a:extLst>
          </p:cNvPr>
          <p:cNvSpPr>
            <a:spLocks noGrp="1" noChangeArrowheads="1"/>
          </p:cNvSpPr>
          <p:nvPr>
            <p:ph idx="13"/>
          </p:nvPr>
        </p:nvSpPr>
        <p:spPr bwMode="auto">
          <a:xfrm>
            <a:off x="817685" y="1513597"/>
            <a:ext cx="764051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accent6">
                    <a:lumMod val="75000"/>
                  </a:schemeClr>
                </a:solidFill>
                <a:effectLst/>
                <a:latin typeface="Arial" panose="020B0604020202020204" pitchFamily="34" charset="0"/>
              </a:rPr>
              <a:t>  Greedy: </a:t>
            </a:r>
            <a:r>
              <a:rPr kumimoji="0" lang="en-US" altLang="en-US" sz="2800" i="0" u="none" strike="noStrike" cap="none" normalizeH="0" baseline="0" dirty="0">
                <a:ln>
                  <a:noFill/>
                </a:ln>
                <a:solidFill>
                  <a:schemeClr val="accent6">
                    <a:lumMod val="75000"/>
                  </a:schemeClr>
                </a:solidFill>
                <a:effectLst/>
                <a:latin typeface="Arial" panose="020B0604020202020204" pitchFamily="34" charset="0"/>
              </a:rPr>
              <a:t>Chooses the move with the highest immediate score (largest region).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i="0" u="none" strike="noStrike" cap="none" normalizeH="0" baseline="0" dirty="0">
              <a:ln>
                <a:noFill/>
              </a:ln>
              <a:solidFill>
                <a:schemeClr val="accent6">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accent6">
                    <a:lumMod val="75000"/>
                  </a:schemeClr>
                </a:solidFill>
                <a:effectLst/>
                <a:latin typeface="Arial" panose="020B0604020202020204" pitchFamily="34" charset="0"/>
              </a:rPr>
              <a:t>  </a:t>
            </a:r>
            <a:r>
              <a:rPr kumimoji="0" lang="en-US" altLang="en-US" sz="2800" b="1" i="0" u="none" strike="noStrike" cap="none" normalizeH="0" baseline="0" dirty="0">
                <a:ln>
                  <a:noFill/>
                </a:ln>
                <a:solidFill>
                  <a:schemeClr val="accent6">
                    <a:lumMod val="75000"/>
                  </a:schemeClr>
                </a:solidFill>
                <a:effectLst/>
                <a:latin typeface="Arial" panose="020B0604020202020204" pitchFamily="34" charset="0"/>
              </a:rPr>
              <a:t>Divide &amp; Conquer: </a:t>
            </a:r>
            <a:r>
              <a:rPr kumimoji="0" lang="en-US" altLang="en-US" sz="2800" i="0" u="none" strike="noStrike" cap="none" normalizeH="0" baseline="0" dirty="0">
                <a:ln>
                  <a:noFill/>
                </a:ln>
                <a:solidFill>
                  <a:schemeClr val="accent6">
                    <a:lumMod val="75000"/>
                  </a:schemeClr>
                </a:solidFill>
                <a:effectLst/>
                <a:latin typeface="Arial" panose="020B0604020202020204" pitchFamily="34" charset="0"/>
              </a:rPr>
              <a:t>Recursively evaluates future game states to maximize total score.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i="0" u="none" strike="noStrike" cap="none" normalizeH="0" baseline="0" dirty="0">
              <a:ln>
                <a:noFill/>
              </a:ln>
              <a:solidFill>
                <a:schemeClr val="accent6">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accent6">
                    <a:lumMod val="75000"/>
                  </a:schemeClr>
                </a:solidFill>
                <a:effectLst/>
                <a:latin typeface="Arial" panose="020B0604020202020204" pitchFamily="34" charset="0"/>
              </a:rPr>
              <a:t>  </a:t>
            </a:r>
            <a:r>
              <a:rPr kumimoji="0" lang="en-US" altLang="en-US" sz="2800" b="1" i="0" u="none" strike="noStrike" cap="none" normalizeH="0" baseline="0" dirty="0">
                <a:ln>
                  <a:noFill/>
                </a:ln>
                <a:solidFill>
                  <a:schemeClr val="accent6">
                    <a:lumMod val="75000"/>
                  </a:schemeClr>
                </a:solidFill>
                <a:effectLst/>
                <a:latin typeface="Arial" panose="020B0604020202020204" pitchFamily="34" charset="0"/>
              </a:rPr>
              <a:t>Together</a:t>
            </a:r>
            <a:r>
              <a:rPr kumimoji="0" lang="en-US" altLang="en-US" sz="2800" i="0" u="none" strike="noStrike" cap="none" normalizeH="0" baseline="0" dirty="0">
                <a:ln>
                  <a:noFill/>
                </a:ln>
                <a:solidFill>
                  <a:schemeClr val="accent6">
                    <a:lumMod val="75000"/>
                  </a:schemeClr>
                </a:solidFill>
                <a:effectLst/>
                <a:latin typeface="Arial" panose="020B0604020202020204" pitchFamily="34" charset="0"/>
              </a:rPr>
              <a:t>: The AI makes locally good decisions with global awareness.</a:t>
            </a:r>
          </a:p>
        </p:txBody>
      </p:sp>
      <p:pic>
        <p:nvPicPr>
          <p:cNvPr id="10" name="Picture Placeholder 9" descr="Ribbon">
            <a:extLst>
              <a:ext uri="{FF2B5EF4-FFF2-40B4-BE49-F238E27FC236}">
                <a16:creationId xmlns:a16="http://schemas.microsoft.com/office/drawing/2014/main" id="{84F31829-CB00-4A08-B866-24A3B7063290}"/>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l="3632" r="3632"/>
          <a:stretch>
            <a:fillRect/>
          </a:stretch>
        </p:blipFill>
        <p:spPr/>
      </p:pic>
    </p:spTree>
    <p:extLst>
      <p:ext uri="{BB962C8B-B14F-4D97-AF65-F5344CB8AC3E}">
        <p14:creationId xmlns:p14="http://schemas.microsoft.com/office/powerpoint/2010/main" val="4072101725"/>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{6156A38F-8EE1-4E71-88D3-BE16FD610181}TF8a9b5915-b8c7-461e-8cdd-693d48b5e32371f7b7e2_win32-4bf0b9a2ea37</Template>
  <TotalTime>78</TotalTime>
  <Words>392</Words>
  <Application>Microsoft Office PowerPoint</Application>
  <PresentationFormat>Widescreen</PresentationFormat>
  <Paragraphs>61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Calibri</vt:lpstr>
      <vt:lpstr>Sabon Next LT</vt:lpstr>
      <vt:lpstr>Custom</vt:lpstr>
      <vt:lpstr>SAME GAME</vt:lpstr>
      <vt:lpstr>What is same game ?</vt:lpstr>
      <vt:lpstr>The cpu:</vt:lpstr>
      <vt:lpstr>Graph And merge sort</vt:lpstr>
      <vt:lpstr>Greedy Algorithm</vt:lpstr>
      <vt:lpstr>DIVIDE AND CONQUER</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jason richards</dc:creator>
  <cp:lastModifiedBy>Madhavdas Rajeev Lochan Sekhar - [CB.SC.U4CSE24731]</cp:lastModifiedBy>
  <cp:revision>5</cp:revision>
  <dcterms:created xsi:type="dcterms:W3CDTF">2026-02-18T09:01:37Z</dcterms:created>
  <dcterms:modified xsi:type="dcterms:W3CDTF">2026-02-21T09:32:34Z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